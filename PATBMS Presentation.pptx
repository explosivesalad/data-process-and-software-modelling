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5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7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1EA198-6CAB-4B8F-B93F-1F9C8C4B6CE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76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7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3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6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3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4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3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CF0EC4B-54ED-4041-B552-9BA760FA3DB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4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91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79B7A3-510D-65B6-9A21-EBBAE0AAF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94" b="133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D0020-56E9-8927-E8F5-606058E5C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NZ" sz="4100"/>
              <a:t>PATBMS</a:t>
            </a:r>
            <a:br>
              <a:rPr lang="en-NZ" sz="4100"/>
            </a:br>
            <a:br>
              <a:rPr lang="en-NZ" sz="4100"/>
            </a:br>
            <a:r>
              <a:rPr lang="en-NZ" sz="4100"/>
              <a:t>Patient Admission, Triage and Bed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B25EE-5396-2C9C-30BE-8767D040C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6" y="3717707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NZ" sz="2200" dirty="0"/>
              <a:t>Waitakere Hospital – </a:t>
            </a:r>
            <a:r>
              <a:rPr lang="en-NZ" sz="2200" dirty="0" err="1"/>
              <a:t>Te</a:t>
            </a:r>
            <a:r>
              <a:rPr lang="en-NZ" sz="2200" dirty="0"/>
              <a:t> Whatu Ora Health New Zealand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D9D25-67E1-ABFF-2B7D-3B765319D2E6}"/>
              </a:ext>
            </a:extLst>
          </p:cNvPr>
          <p:cNvSpPr txBox="1"/>
          <p:nvPr/>
        </p:nvSpPr>
        <p:spPr>
          <a:xfrm>
            <a:off x="0" y="5727983"/>
            <a:ext cx="380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Mohammed Yaacoub Abou Chlih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9331F-95F1-E260-A952-3C0D5DC8CBBA}"/>
              </a:ext>
            </a:extLst>
          </p:cNvPr>
          <p:cNvSpPr txBox="1"/>
          <p:nvPr/>
        </p:nvSpPr>
        <p:spPr>
          <a:xfrm>
            <a:off x="-2" y="6073170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21138726</a:t>
            </a:r>
          </a:p>
          <a:p>
            <a:endParaRPr lang="en-N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9A32F-B77D-ED6B-A36B-8D1D3B37C791}"/>
              </a:ext>
            </a:extLst>
          </p:cNvPr>
          <p:cNvSpPr txBox="1"/>
          <p:nvPr/>
        </p:nvSpPr>
        <p:spPr>
          <a:xfrm>
            <a:off x="-2" y="6396335"/>
            <a:ext cx="279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ENSE706 || 19/04/2026</a:t>
            </a:r>
          </a:p>
        </p:txBody>
      </p:sp>
    </p:spTree>
    <p:extLst>
      <p:ext uri="{BB962C8B-B14F-4D97-AF65-F5344CB8AC3E}">
        <p14:creationId xmlns:p14="http://schemas.microsoft.com/office/powerpoint/2010/main" val="3406914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57058-57AD-46A9-BAE9-7145CB3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D86F0-98E0-4468-9315-41BF7B0F2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CD287-03C9-1849-ECD9-C3B1B88C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62" y="774550"/>
            <a:ext cx="2696285" cy="5443369"/>
          </a:xfrm>
        </p:spPr>
        <p:txBody>
          <a:bodyPr>
            <a:normAutofit/>
          </a:bodyPr>
          <a:lstStyle/>
          <a:p>
            <a:r>
              <a:rPr lang="en-NZ" sz="2800">
                <a:solidFill>
                  <a:schemeClr val="tx1"/>
                </a:solidFill>
              </a:rPr>
              <a:t>Organisation Overview</a:t>
            </a:r>
            <a:br>
              <a:rPr lang="en-NZ" sz="2800">
                <a:solidFill>
                  <a:schemeClr val="tx1"/>
                </a:solidFill>
              </a:rPr>
            </a:br>
            <a:r>
              <a:rPr lang="en-NZ" sz="2800">
                <a:solidFill>
                  <a:schemeClr val="tx1"/>
                </a:solidFill>
              </a:rPr>
              <a:t>Waitakere Hospital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6146-9FF7-4B29-97F2-EA1CB3876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9B09-081E-EACC-8B3A-F8D686F7E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523" y="774551"/>
            <a:ext cx="6287476" cy="5443369"/>
          </a:xfrm>
        </p:spPr>
        <p:txBody>
          <a:bodyPr anchor="ctr">
            <a:normAutofit/>
          </a:bodyPr>
          <a:lstStyle/>
          <a:p>
            <a:r>
              <a:rPr lang="en-NZ" sz="2000"/>
              <a:t>Public hospital under Te Whatu Ora Health New Zealand Waitemata</a:t>
            </a:r>
          </a:p>
          <a:p>
            <a:r>
              <a:rPr lang="en-NZ" sz="2000"/>
              <a:t>Servers roughly 650,000 residents across North Shore, Waitakere, and Rodney</a:t>
            </a:r>
          </a:p>
          <a:p>
            <a:r>
              <a:rPr lang="en-NZ" sz="2000"/>
              <a:t>Renovated in 2005 with expanded facilities</a:t>
            </a:r>
          </a:p>
          <a:p>
            <a:pPr marL="0" indent="0">
              <a:buNone/>
            </a:pPr>
            <a:r>
              <a:rPr lang="en-NZ" sz="2000"/>
              <a:t> </a:t>
            </a:r>
            <a:r>
              <a:rPr lang="en-NZ" sz="2000" b="1"/>
              <a:t>Key Departments:</a:t>
            </a:r>
          </a:p>
          <a:p>
            <a:r>
              <a:rPr lang="en-NZ" sz="2000"/>
              <a:t>Emergency Care Centre (ECC)</a:t>
            </a:r>
          </a:p>
          <a:p>
            <a:r>
              <a:rPr lang="en-NZ" sz="2000"/>
              <a:t>Assessment and Diagnostic Unit (ADU)</a:t>
            </a:r>
          </a:p>
          <a:p>
            <a:r>
              <a:rPr lang="en-NZ" sz="2000"/>
              <a:t>Surgical Unit</a:t>
            </a:r>
          </a:p>
          <a:p>
            <a:r>
              <a:rPr lang="en-NZ" sz="2000"/>
              <a:t>Mental Health Unit</a:t>
            </a:r>
          </a:p>
          <a:p>
            <a:r>
              <a:rPr lang="en-NZ" sz="2000"/>
              <a:t>Allied Health Team</a:t>
            </a:r>
          </a:p>
          <a:p>
            <a:r>
              <a:rPr lang="en-NZ" sz="2000"/>
              <a:t>Medical Wards</a:t>
            </a:r>
          </a:p>
        </p:txBody>
      </p:sp>
    </p:spTree>
    <p:extLst>
      <p:ext uri="{BB962C8B-B14F-4D97-AF65-F5344CB8AC3E}">
        <p14:creationId xmlns:p14="http://schemas.microsoft.com/office/powerpoint/2010/main" val="145393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57058-57AD-46A9-BAE9-7145CB3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D86F0-98E0-4468-9315-41BF7B0F2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DAD2C-26FB-5CBF-CF99-3F18DCD9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62" y="774550"/>
            <a:ext cx="2696285" cy="5443369"/>
          </a:xfrm>
        </p:spPr>
        <p:txBody>
          <a:bodyPr>
            <a:normAutofit/>
          </a:bodyPr>
          <a:lstStyle/>
          <a:p>
            <a:r>
              <a:rPr lang="en-NZ" sz="2500">
                <a:solidFill>
                  <a:schemeClr val="tx1"/>
                </a:solidFill>
              </a:rPr>
              <a:t>System and Requirements</a:t>
            </a:r>
            <a:br>
              <a:rPr lang="en-NZ" sz="2500">
                <a:solidFill>
                  <a:schemeClr val="tx1"/>
                </a:solidFill>
              </a:rPr>
            </a:br>
            <a:r>
              <a:rPr lang="en-NZ" sz="2500">
                <a:solidFill>
                  <a:schemeClr val="tx1"/>
                </a:solidFill>
              </a:rPr>
              <a:t>PATBMS – Why it exists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6146-9FF7-4B29-97F2-EA1CB3876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3240-6BDE-3C52-8571-44F3935B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523" y="774551"/>
            <a:ext cx="6287476" cy="5443369"/>
          </a:xfrm>
        </p:spPr>
        <p:txBody>
          <a:bodyPr anchor="ctr">
            <a:normAutofit/>
          </a:bodyPr>
          <a:lstStyle/>
          <a:p>
            <a:r>
              <a:rPr lang="en-NZ" sz="2000"/>
              <a:t>Coordinates patient flow across departments</a:t>
            </a:r>
          </a:p>
          <a:p>
            <a:r>
              <a:rPr lang="en-NZ" sz="2000"/>
              <a:t>Manages bed availability in real time</a:t>
            </a:r>
          </a:p>
          <a:p>
            <a:r>
              <a:rPr lang="en-NZ" sz="2000"/>
              <a:t>Supports triage, admission, handover, discharge and registration </a:t>
            </a:r>
          </a:p>
          <a:p>
            <a:pPr marL="0" indent="0">
              <a:buNone/>
            </a:pPr>
            <a:r>
              <a:rPr lang="en-NZ" sz="2000"/>
              <a:t> </a:t>
            </a:r>
            <a:r>
              <a:rPr lang="en-NZ" sz="2000" b="1"/>
              <a:t>Key Requirements: </a:t>
            </a:r>
          </a:p>
          <a:p>
            <a:r>
              <a:rPr lang="en-NZ" sz="2000"/>
              <a:t>FR8 – Triage with ATS categories (1-5)</a:t>
            </a:r>
          </a:p>
          <a:p>
            <a:r>
              <a:rPr lang="en-NZ" sz="2000"/>
              <a:t>FR9 – Bed allocation with approval workflow</a:t>
            </a:r>
          </a:p>
          <a:p>
            <a:r>
              <a:rPr lang="en-NZ" sz="2000"/>
              <a:t>FR10 – Inter-department handover</a:t>
            </a:r>
          </a:p>
          <a:p>
            <a:r>
              <a:rPr lang="en-NZ" sz="2000"/>
              <a:t>FR11 – Discharge with real-time bed updates</a:t>
            </a:r>
          </a:p>
          <a:p>
            <a:r>
              <a:rPr lang="en-NZ" sz="2000"/>
              <a:t>FR13 – Role based login</a:t>
            </a:r>
          </a:p>
          <a:p>
            <a:pPr marL="0" indent="0">
              <a:buNone/>
            </a:pPr>
            <a:r>
              <a:rPr lang="en-NZ" sz="2000" b="1"/>
              <a:t>5 User Roles: </a:t>
            </a:r>
            <a:r>
              <a:rPr lang="en-NZ" sz="2000"/>
              <a:t>Doctors, Nurses, Allied Health, Admin Staff, Management</a:t>
            </a:r>
            <a:br>
              <a:rPr lang="en-NZ" sz="2000" b="1"/>
            </a:br>
            <a:r>
              <a:rPr lang="en-NZ" sz="20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42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457F22-2034-4200-B6E4-5B8372AA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16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DA7986-F4F5-4F92-94A3-343B2D72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6981"/>
            <a:ext cx="4686300" cy="1639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B51A4-7F6F-885E-DDB1-3BDBAE9C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7" y="284176"/>
            <a:ext cx="3670874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Use Case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61B08-0889-FA4E-330D-39013617FBDA}"/>
              </a:ext>
            </a:extLst>
          </p:cNvPr>
          <p:cNvSpPr txBox="1"/>
          <p:nvPr/>
        </p:nvSpPr>
        <p:spPr>
          <a:xfrm>
            <a:off x="634277" y="2011680"/>
            <a:ext cx="3676678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Key Relationships:</a:t>
            </a:r>
            <a:endParaRPr lang="en-US">
              <a:solidFill>
                <a:schemeClr val="bg1"/>
              </a:solidFill>
            </a:endParaRP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Include </a:t>
            </a:r>
            <a:r>
              <a:rPr lang="en-US">
                <a:solidFill>
                  <a:schemeClr val="bg1"/>
                </a:solidFill>
              </a:rPr>
              <a:t>– Allocate bed includes View Bed Dashboard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Extend </a:t>
            </a:r>
            <a:r>
              <a:rPr lang="en-US">
                <a:solidFill>
                  <a:schemeClr val="bg1"/>
                </a:solidFill>
              </a:rPr>
              <a:t>– Request Transfer extends Allocate bed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Generalisation </a:t>
            </a:r>
            <a:r>
              <a:rPr lang="en-US">
                <a:solidFill>
                  <a:schemeClr val="bg1"/>
                </a:solidFill>
              </a:rPr>
              <a:t>– Register New Patient and Link NHI -&gt; Register Patient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8E76FD-76EE-4DE6-BBA4-EEA6E4B98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190" y="0"/>
            <a:ext cx="75668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A29B9-E4F6-6709-CE65-FB1D5DF8D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368" y="1405379"/>
            <a:ext cx="6283602" cy="40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11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57058-57AD-46A9-BAE9-7145CB3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D86F0-98E0-4468-9315-41BF7B0F2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C5E39-ED86-1906-E24C-9A2C461A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62" y="774550"/>
            <a:ext cx="2696285" cy="5443369"/>
          </a:xfrm>
        </p:spPr>
        <p:txBody>
          <a:bodyPr>
            <a:normAutofit/>
          </a:bodyPr>
          <a:lstStyle/>
          <a:p>
            <a:r>
              <a:rPr lang="en-NZ" sz="2800">
                <a:solidFill>
                  <a:schemeClr val="tx1"/>
                </a:solidFill>
              </a:rPr>
              <a:t>Use Case Descriptions</a:t>
            </a:r>
            <a:br>
              <a:rPr lang="en-NZ" sz="2800">
                <a:solidFill>
                  <a:schemeClr val="tx1"/>
                </a:solidFill>
              </a:rPr>
            </a:br>
            <a:r>
              <a:rPr lang="en-NZ" sz="2800">
                <a:solidFill>
                  <a:schemeClr val="tx1"/>
                </a:solidFill>
              </a:rPr>
              <a:t>Five Fully Dressed Use Cases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6146-9FF7-4B29-97F2-EA1CB3876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47AF-D4F5-9BFD-CEBE-7C98860E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523" y="774551"/>
            <a:ext cx="6287476" cy="5443369"/>
          </a:xfrm>
        </p:spPr>
        <p:txBody>
          <a:bodyPr anchor="ctr">
            <a:normAutofit/>
          </a:bodyPr>
          <a:lstStyle/>
          <a:p>
            <a:r>
              <a:rPr lang="en-NZ" sz="2000"/>
              <a:t>UC1 – Perform Patient Triage</a:t>
            </a:r>
          </a:p>
          <a:p>
            <a:r>
              <a:rPr lang="en-NZ" sz="2000"/>
              <a:t>UC2 – Allocate Bed</a:t>
            </a:r>
          </a:p>
          <a:p>
            <a:r>
              <a:rPr lang="en-NZ" sz="2000"/>
              <a:t>UC3 – Register Patient</a:t>
            </a:r>
          </a:p>
          <a:p>
            <a:r>
              <a:rPr lang="en-NZ" sz="2000"/>
              <a:t>UC4 – Conduct Inter-Department Handover</a:t>
            </a:r>
          </a:p>
          <a:p>
            <a:r>
              <a:rPr lang="en-NZ" sz="2000"/>
              <a:t>UC5 – Enter Diagnosis and Treatment Plan</a:t>
            </a:r>
          </a:p>
          <a:p>
            <a:endParaRPr lang="en-NZ" sz="2000"/>
          </a:p>
          <a:p>
            <a:pPr marL="0" indent="0">
              <a:buNone/>
            </a:pPr>
            <a:r>
              <a:rPr lang="en-NZ" sz="2000" b="1"/>
              <a:t>Each use case defines:</a:t>
            </a:r>
            <a:br>
              <a:rPr lang="en-NZ" sz="2000"/>
            </a:br>
            <a:r>
              <a:rPr lang="en-NZ" sz="2000"/>
              <a:t>Pre-conditions, Event Flow, Post-conditions, Extension Points</a:t>
            </a:r>
          </a:p>
        </p:txBody>
      </p:sp>
    </p:spTree>
    <p:extLst>
      <p:ext uri="{BB962C8B-B14F-4D97-AF65-F5344CB8AC3E}">
        <p14:creationId xmlns:p14="http://schemas.microsoft.com/office/powerpoint/2010/main" val="381452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457F22-2034-4200-B6E4-5B8372AA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16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DA7986-F4F5-4F92-94A3-343B2D72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6981"/>
            <a:ext cx="4686300" cy="1639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0925C-2FF0-3E51-F5EF-4DA1D3F5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7" y="284176"/>
            <a:ext cx="3670874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Class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99867-C8D8-0383-AE12-95BEA1D754BA}"/>
              </a:ext>
            </a:extLst>
          </p:cNvPr>
          <p:cNvSpPr txBox="1"/>
          <p:nvPr/>
        </p:nvSpPr>
        <p:spPr>
          <a:xfrm>
            <a:off x="634277" y="2011680"/>
            <a:ext cx="3676678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Key Design Decisions: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 User hierarchy</a:t>
            </a:r>
            <a:r>
              <a:rPr lang="en-US">
                <a:solidFill>
                  <a:schemeClr val="bg1"/>
                </a:solidFill>
              </a:rPr>
              <a:t> – Doctor, Nurse, Allied Health, Admin, Management inherit from User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Composition</a:t>
            </a:r>
            <a:r>
              <a:rPr lang="en-US">
                <a:solidFill>
                  <a:schemeClr val="bg1"/>
                </a:solidFill>
              </a:rPr>
              <a:t> – Ward owns bed, Patient owns TriageAssessment and DiagnosisRecord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 b="1">
                <a:solidFill>
                  <a:schemeClr val="bg1"/>
                </a:solidFill>
              </a:rPr>
              <a:t>Association </a:t>
            </a:r>
            <a:r>
              <a:rPr lang="en-US">
                <a:solidFill>
                  <a:schemeClr val="bg1"/>
                </a:solidFill>
              </a:rPr>
              <a:t>– BedAllocation, Discharge, Handover, and admission all reference Patient independently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"/>
            </a:pPr>
            <a:r>
              <a:rPr lang="en-US">
                <a:solidFill>
                  <a:schemeClr val="bg1"/>
                </a:solidFill>
              </a:rPr>
              <a:t>16 domain classes in total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8E76FD-76EE-4DE6-BBA4-EEA6E4B98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190" y="0"/>
            <a:ext cx="75668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3DF8F-109F-B8FF-8710-A8029AF7C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368" y="941963"/>
            <a:ext cx="6283602" cy="493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57058-57AD-46A9-BAE9-7145CB3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D86F0-98E0-4468-9315-41BF7B0F2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54575-BED3-C3A6-4EB6-A2A9A05C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62" y="774550"/>
            <a:ext cx="2696285" cy="5443369"/>
          </a:xfrm>
        </p:spPr>
        <p:txBody>
          <a:bodyPr>
            <a:normAutofit/>
          </a:bodyPr>
          <a:lstStyle/>
          <a:p>
            <a:r>
              <a:rPr lang="en-NZ" sz="2300">
                <a:solidFill>
                  <a:schemeClr val="tx1"/>
                </a:solidFill>
              </a:rPr>
              <a:t>C# Implementation</a:t>
            </a:r>
            <a:br>
              <a:rPr lang="en-NZ" sz="2300">
                <a:solidFill>
                  <a:schemeClr val="tx1"/>
                </a:solidFill>
              </a:rPr>
            </a:br>
            <a:r>
              <a:rPr lang="en-NZ" sz="2300">
                <a:solidFill>
                  <a:schemeClr val="tx1"/>
                </a:solidFill>
              </a:rPr>
              <a:t>OOP Implementation – Key Highlights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6146-9FF7-4B29-97F2-EA1CB3876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27D4-D6D3-62D8-97F0-9724AEA1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523" y="774551"/>
            <a:ext cx="6287476" cy="5443369"/>
          </a:xfrm>
        </p:spPr>
        <p:txBody>
          <a:bodyPr anchor="ctr">
            <a:normAutofit/>
          </a:bodyPr>
          <a:lstStyle/>
          <a:p>
            <a:r>
              <a:rPr lang="en-NZ" sz="1700"/>
              <a:t>16 classes consistent with UML diagram</a:t>
            </a:r>
          </a:p>
          <a:p>
            <a:r>
              <a:rPr lang="en-NZ" sz="1700"/>
              <a:t>Inheritance – all staff classes extend User base class</a:t>
            </a:r>
          </a:p>
          <a:p>
            <a:r>
              <a:rPr lang="en-NZ" sz="1700"/>
              <a:t>Encapsulation – private fields with public properties</a:t>
            </a:r>
          </a:p>
          <a:p>
            <a:r>
              <a:rPr lang="en-NZ" sz="1700"/>
              <a:t>Business Rules – ATS category validated between 1 and 5</a:t>
            </a:r>
          </a:p>
          <a:p>
            <a:pPr marL="0" indent="0">
              <a:buNone/>
            </a:pPr>
            <a:r>
              <a:rPr lang="en-NZ" sz="1700" b="1"/>
              <a:t>Demo flow:</a:t>
            </a:r>
          </a:p>
          <a:p>
            <a:pPr marL="457200" indent="-457200">
              <a:buAutoNum type="arabicPeriod"/>
            </a:pPr>
            <a:r>
              <a:rPr lang="en-NZ" sz="1700"/>
              <a:t>Login</a:t>
            </a:r>
          </a:p>
          <a:p>
            <a:pPr marL="457200" indent="-457200">
              <a:buAutoNum type="arabicPeriod"/>
            </a:pPr>
            <a:r>
              <a:rPr lang="en-NZ" sz="1700"/>
              <a:t>Register Patient</a:t>
            </a:r>
          </a:p>
          <a:p>
            <a:pPr marL="457200" indent="-457200">
              <a:buAutoNum type="arabicPeriod"/>
            </a:pPr>
            <a:r>
              <a:rPr lang="en-NZ" sz="1700"/>
              <a:t>Perform Triage</a:t>
            </a:r>
          </a:p>
          <a:p>
            <a:pPr marL="457200" indent="-457200">
              <a:buAutoNum type="arabicPeriod"/>
            </a:pPr>
            <a:r>
              <a:rPr lang="en-NZ" sz="1700"/>
              <a:t>Allocate Bed</a:t>
            </a:r>
          </a:p>
          <a:p>
            <a:pPr marL="457200" indent="-457200">
              <a:buAutoNum type="arabicPeriod"/>
            </a:pPr>
            <a:r>
              <a:rPr lang="en-NZ" sz="1700"/>
              <a:t>Record Discharge</a:t>
            </a:r>
          </a:p>
          <a:p>
            <a:pPr marL="457200" indent="-457200">
              <a:buAutoNum type="arabicPeriod"/>
            </a:pPr>
            <a:r>
              <a:rPr lang="en-NZ" sz="1700"/>
              <a:t>Send Notification</a:t>
            </a:r>
          </a:p>
          <a:p>
            <a:pPr marL="457200" indent="-457200">
              <a:buAutoNum type="arabicPeriod"/>
            </a:pPr>
            <a:r>
              <a:rPr lang="en-NZ" sz="1700"/>
              <a:t>Conduct Handover</a:t>
            </a:r>
          </a:p>
          <a:p>
            <a:pPr marL="457200" indent="-457200">
              <a:buAutoNum type="arabicPeriod"/>
            </a:pPr>
            <a:r>
              <a:rPr lang="en-NZ" sz="1700"/>
              <a:t>Allied Health and Management</a:t>
            </a:r>
          </a:p>
          <a:p>
            <a:endParaRPr lang="en-NZ" sz="1700"/>
          </a:p>
        </p:txBody>
      </p:sp>
    </p:spTree>
    <p:extLst>
      <p:ext uri="{BB962C8B-B14F-4D97-AF65-F5344CB8AC3E}">
        <p14:creationId xmlns:p14="http://schemas.microsoft.com/office/powerpoint/2010/main" val="73011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57058-57AD-46A9-BAE9-7145CB3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D86F0-98E0-4468-9315-41BF7B0F2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8C59E-2011-160D-DF3A-B0F44715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62" y="774550"/>
            <a:ext cx="2696285" cy="5443369"/>
          </a:xfrm>
        </p:spPr>
        <p:txBody>
          <a:bodyPr>
            <a:normAutofit/>
          </a:bodyPr>
          <a:lstStyle/>
          <a:p>
            <a:r>
              <a:rPr lang="en-NZ" sz="3100">
                <a:solidFill>
                  <a:schemeClr val="tx1"/>
                </a:solidFill>
              </a:rPr>
              <a:t>Design Weaknesses and Part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46146-9FF7-4B29-97F2-EA1CB3876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3D8D-B88C-3463-4A8C-70ADA68D0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523" y="774551"/>
            <a:ext cx="6287476" cy="5443369"/>
          </a:xfrm>
        </p:spPr>
        <p:txBody>
          <a:bodyPr anchor="ctr">
            <a:normAutofit/>
          </a:bodyPr>
          <a:lstStyle/>
          <a:p>
            <a:r>
              <a:rPr lang="en-NZ" sz="2000"/>
              <a:t>No interfaces – behaviour isn’t properly abstracted</a:t>
            </a:r>
          </a:p>
          <a:p>
            <a:r>
              <a:rPr lang="en-NZ" sz="2000"/>
              <a:t>Role stored as string – no validation enforcement</a:t>
            </a:r>
          </a:p>
          <a:p>
            <a:r>
              <a:rPr lang="en-NZ" sz="2000"/>
              <a:t>Separation of responsibilities – Discharge.UpdateBedStatus() should belong to Bed</a:t>
            </a:r>
          </a:p>
          <a:p>
            <a:r>
              <a:rPr lang="en-NZ" sz="2000"/>
              <a:t>No access control mechanism in class structure</a:t>
            </a:r>
          </a:p>
          <a:p>
            <a:pPr marL="0" indent="0">
              <a:buNone/>
            </a:pPr>
            <a:r>
              <a:rPr lang="en-NZ" sz="2000"/>
              <a:t> </a:t>
            </a:r>
            <a:r>
              <a:rPr lang="en-NZ" sz="2000" b="1"/>
              <a:t>Part 2 improvements:</a:t>
            </a:r>
          </a:p>
          <a:p>
            <a:r>
              <a:rPr lang="en-NZ" sz="2000"/>
              <a:t>Implement interfaces for notification and reports</a:t>
            </a:r>
          </a:p>
          <a:p>
            <a:r>
              <a:rPr lang="en-NZ" sz="2000"/>
              <a:t>Replace role string with enum</a:t>
            </a:r>
          </a:p>
          <a:p>
            <a:r>
              <a:rPr lang="en-NZ" sz="2000"/>
              <a:t>Enforce role-based access control</a:t>
            </a:r>
          </a:p>
          <a:p>
            <a:r>
              <a:rPr lang="en-NZ" sz="2000"/>
              <a:t>Full NHI database integration per NFR7</a:t>
            </a:r>
          </a:p>
          <a:p>
            <a:r>
              <a:rPr lang="en-NZ" sz="2000"/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1208414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B47BDA5E8A2C49946D567AFA80567E" ma:contentTypeVersion="10" ma:contentTypeDescription="Create a new document." ma:contentTypeScope="" ma:versionID="2dec16d6362840d617946b1b9b1381d5">
  <xsd:schema xmlns:xsd="http://www.w3.org/2001/XMLSchema" xmlns:xs="http://www.w3.org/2001/XMLSchema" xmlns:p="http://schemas.microsoft.com/office/2006/metadata/properties" xmlns:ns3="a18d056f-ee29-4dfb-a0af-bba87fbc74d0" targetNamespace="http://schemas.microsoft.com/office/2006/metadata/properties" ma:root="true" ma:fieldsID="ec8d53ed087ecc1c8938ca231382af29" ns3:_="">
    <xsd:import namespace="a18d056f-ee29-4dfb-a0af-bba87fbc74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d056f-ee29-4dfb-a0af-bba87fbc74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8d056f-ee29-4dfb-a0af-bba87fbc74d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70261E-0F4D-4574-AA6E-D3884FD290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8d056f-ee29-4dfb-a0af-bba87fbc74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76A6EE-BFDE-4A44-BE27-C1EB44CB2532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a18d056f-ee29-4dfb-a0af-bba87fbc74d0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D0DE6D-988A-44E4-85E0-00D4A221F4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241</TotalTime>
  <Words>432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Corbel</vt:lpstr>
      <vt:lpstr>Wingdings</vt:lpstr>
      <vt:lpstr>Banded</vt:lpstr>
      <vt:lpstr>PATBMS  Patient Admission, Triage and Bed Management System</vt:lpstr>
      <vt:lpstr>Organisation Overview Waitakere Hospital</vt:lpstr>
      <vt:lpstr>System and Requirements PATBMS – Why it exists</vt:lpstr>
      <vt:lpstr>Use Case Diagram</vt:lpstr>
      <vt:lpstr>Use Case Descriptions Five Fully Dressed Use Cases</vt:lpstr>
      <vt:lpstr>Class Diagram</vt:lpstr>
      <vt:lpstr>C# Implementation OOP Implementation – Key Highlights</vt:lpstr>
      <vt:lpstr>Design Weaknesses and Part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Yaacoub Abou Chlih</dc:creator>
  <cp:lastModifiedBy>Mohammed Yaacoub Abou Chlih</cp:lastModifiedBy>
  <cp:revision>2</cp:revision>
  <dcterms:created xsi:type="dcterms:W3CDTF">2026-04-19T01:10:05Z</dcterms:created>
  <dcterms:modified xsi:type="dcterms:W3CDTF">2026-04-19T05:28:04Z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0x010100C7B47BDA5E8A2C49946D567AFA80567E</vt:lpwstr>
  </property>
</Properties>
</file>